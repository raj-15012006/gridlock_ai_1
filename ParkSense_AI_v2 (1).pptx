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by stating the problem in one sentence: Bengaluru has 298,450 parking violation records that have never been systematically used to guide patrol deployment. This system changes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pain. Emphasize the 61.3% enforcement gap — command staff literally cannot see which violations go unresolved. Walk through each card quickly (30 seconds total). Then pivot: 'ParkSense AI closes all four gaps.'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walkthrough: 5 stages in sequence. Stress that every output is deterministic and traceable — no black-box ML. Input = 298,450 rows. Output = daily enforcement plan. Duration: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slide — keep it under 45 sec. Emphasize the vehicle-severity weights as a deliberate design choice: a parked bus is 10x worse than a scooter. The validation_status flag is how you derive the 61.3% enforcement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73936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15184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56432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8928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0176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21424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45168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6416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27664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68912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3936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5184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1424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86416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27664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68912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73936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15184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56432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8928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0176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21424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2672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45168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86416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27664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73936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15184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97680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38928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0176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21424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62672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03920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45168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86416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27664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68912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2688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73936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15184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56432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97680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38928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21424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62672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03920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45168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86416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27664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68912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440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2688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73936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15184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56432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97680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38928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80176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21424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62672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03920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45168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86416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027664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868912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440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2688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73936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615184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56432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97680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38928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980176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21424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662672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345168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186416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027664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868912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94360" y="548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3946">
              <a:alpha val="85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4360" y="548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FFAAAA"/>
                </a:solidFill>
              </a:rPr>
              <a:t>PROTOTYPE SUBMISSION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548640" y="10972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ParkSense AI</a:t>
            </a:r>
            <a:endParaRPr lang="en-US" sz="7200" dirty="0"/>
          </a:p>
        </p:txBody>
      </p:sp>
      <p:sp>
        <p:nvSpPr>
          <p:cNvPr id="111" name="Text 109"/>
          <p:cNvSpPr/>
          <p:nvPr/>
        </p:nvSpPr>
        <p:spPr>
          <a:xfrm>
            <a:off x="548640" y="2514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A8B8CC"/>
                </a:solidFill>
              </a:rPr>
              <a:t>AI-Driven Parking Intelligence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A8B8CC"/>
                </a:solidFill>
              </a:rPr>
              <a:t>for Targeted Traffic Enforcement</a:t>
            </a:r>
            <a:endParaRPr lang="en-US" sz="2000" dirty="0"/>
          </a:p>
        </p:txBody>
      </p:sp>
      <p:sp>
        <p:nvSpPr>
          <p:cNvPr id="112" name="Shape 110"/>
          <p:cNvSpPr/>
          <p:nvPr/>
        </p:nvSpPr>
        <p:spPr>
          <a:xfrm>
            <a:off x="548640" y="3566160"/>
            <a:ext cx="548640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48640" y="3749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Flipkart Gridlock Hackathon 2.0  ·  Round 2 — Prototype Phase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548640" y="4023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Theme 1 — Poor Visibility on Parking-Induced Congestion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548640" y="4315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Team [Your Team Name]   ·   Bengaluru, India   ·   June 2026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896112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905256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</a:rPr>
              <a:t>298,450</a:t>
            </a:r>
            <a:endParaRPr lang="en-US" sz="4000" dirty="0"/>
          </a:p>
        </p:txBody>
      </p:sp>
      <p:sp>
        <p:nvSpPr>
          <p:cNvPr id="118" name="Text 116"/>
          <p:cNvSpPr/>
          <p:nvPr/>
        </p:nvSpPr>
        <p:spPr>
          <a:xfrm>
            <a:off x="905256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CCDD"/>
                </a:solidFill>
              </a:rPr>
              <a:t>violation records analysed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961120" y="28346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905256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</a:rPr>
              <a:t>62</a:t>
            </a:r>
            <a:endParaRPr lang="en-US" sz="4000" dirty="0"/>
          </a:p>
        </p:txBody>
      </p:sp>
      <p:sp>
        <p:nvSpPr>
          <p:cNvPr id="121" name="Text 119"/>
          <p:cNvSpPr/>
          <p:nvPr/>
        </p:nvSpPr>
        <p:spPr>
          <a:xfrm>
            <a:off x="905256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CCDD"/>
                </a:solidFill>
              </a:rPr>
              <a:t>parking hotspots detected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961120" y="44805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905256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</a:rPr>
              <a:t>77.7</a:t>
            </a:r>
            <a:endParaRPr lang="en-US" sz="4000" dirty="0"/>
          </a:p>
        </p:txBody>
      </p:sp>
      <p:sp>
        <p:nvSpPr>
          <p:cNvPr id="124" name="Text 122"/>
          <p:cNvSpPr/>
          <p:nvPr/>
        </p:nvSpPr>
        <p:spPr>
          <a:xfrm>
            <a:off x="9052560" y="5230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CCDD"/>
                </a:solidFill>
              </a:rPr>
              <a:t>top congestion score (Upparpet)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THE OPERATIONAL CHALLENGE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Reactive Patrols Can't See Where Parking Chokes Traffic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3886200" cy="1719072"/>
          </a:xfrm>
          <a:prstGeom prst="roundRect">
            <a:avLst>
              <a:gd name="adj" fmla="val 5319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35331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4984" y="1325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Spillover parking blocks key zones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6072" y="17647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On-street and spillover parking near commercial areas, metro stations and event venues chokes carriageways and intersections.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0" y="1170432"/>
            <a:ext cx="3886200" cy="1719072"/>
          </a:xfrm>
          <a:prstGeom prst="roundRect">
            <a:avLst>
              <a:gd name="adj" fmla="val 5319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5331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5504" y="1325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Enforcement is patrol-based &amp; reactive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36592" y="17647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Officers respond after congestion has already formed, instead of being deployed ahead of it.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11480" y="3246120"/>
            <a:ext cx="3886200" cy="1719072"/>
          </a:xfrm>
          <a:prstGeom prst="roundRect">
            <a:avLst>
              <a:gd name="adj" fmla="val 5319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42900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4984" y="3401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No heatmap links violations to impact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76072" y="3840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There is no visual or quantified link between where violations occur and how much they actually degrade traffic flow.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572000" y="3246120"/>
            <a:ext cx="3886200" cy="1719072"/>
          </a:xfrm>
          <a:prstGeom prst="roundRect">
            <a:avLst>
              <a:gd name="adj" fmla="val 5319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42900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75504" y="3401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No objective way to prioritize zones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736592" y="3840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Command staff allocate patrol units on instinct, not on a data-backed ranking of which zones matter most.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732520" y="1170432"/>
            <a:ext cx="3063240" cy="3794760"/>
          </a:xfrm>
          <a:prstGeom prst="roundRect">
            <a:avLst>
              <a:gd name="adj" fmla="val 417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888796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63946"/>
                </a:solidFill>
              </a:rPr>
              <a:t>WHY IT'S HARD TODAY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8823960" y="1737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</a:rPr>
              <a:t>298,450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8823960" y="224028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violation records generated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(Nov 2023 – Apr 2024) and never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systematically analyzed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9006840" y="2770632"/>
            <a:ext cx="2423160" cy="0"/>
          </a:xfrm>
          <a:prstGeom prst="line">
            <a:avLst/>
          </a:prstGeom>
          <a:noFill/>
          <a:ln w="9525">
            <a:solidFill>
              <a:srgbClr val="2D3D5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823960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</a:rPr>
              <a:t>61.3%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8823960" y="333756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of all violations remain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unresolved — an enforcement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gap invisible to command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9006840" y="3867912"/>
            <a:ext cx="2423160" cy="0"/>
          </a:xfrm>
          <a:prstGeom prst="line">
            <a:avLst/>
          </a:prstGeom>
          <a:noFill/>
          <a:ln w="9525">
            <a:solidFill>
              <a:srgbClr val="2D3D5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823960" y="3931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E7F7"/>
                </a:solidFill>
              </a:rPr>
              <a:t>0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8823960" y="443484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existing tools that correlate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violation density with real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congestion impact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11480" y="50749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48640" y="5102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Problem Statement Direction: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"How can AI-driven parking intelligence detect illegal parking hotspots and quantify their impact on traffic flow to enable targeted enforcement?"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ParkSense AI — End-to-End Intelligence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4206240"/>
          </a:xfrm>
          <a:prstGeom prst="roundRect">
            <a:avLst>
              <a:gd name="adj" fmla="val 7059"/>
            </a:avLst>
          </a:prstGeom>
          <a:solidFill>
            <a:srgbClr val="1E2550"/>
          </a:solidFill>
          <a:ln w="19050">
            <a:solidFill>
              <a:srgbClr val="3A407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F4A261"/>
                </a:solidFill>
              </a:rPr>
              <a:t>INPUT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91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20756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BTP Dataset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298,450 rows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" y="29900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24 Fields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Nov–Apr 2024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2044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9184" y="39044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GPS Coords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Lat / Lon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3484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9184" y="48188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Timestamps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BBDD"/>
                </a:solidFill>
              </a:rPr>
              <a:t>UTC → IST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2103120" y="1143000"/>
            <a:ext cx="1664208" cy="4663440"/>
          </a:xfrm>
          <a:prstGeom prst="roundRect">
            <a:avLst>
              <a:gd name="adj" fmla="val 6593"/>
            </a:avLst>
          </a:prstGeom>
          <a:solidFill>
            <a:srgbClr val="0A252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2194560" y="123444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194560" y="12344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1252728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194560" y="16459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Ingestion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Cleaning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2286000" y="2514600"/>
            <a:ext cx="1298448" cy="0"/>
          </a:xfrm>
          <a:prstGeom prst="line">
            <a:avLst/>
          </a:prstGeom>
          <a:noFill/>
          <a:ln w="9525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2286000" y="273405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423160" y="265176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JSON violation parse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2286000" y="31363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423160" y="30540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IST timezone fix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286000" y="35387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423160" y="345643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Vehicle severity weights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2286000" y="39410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423160" y="3858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Enforcement gap flag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194560" y="5276088"/>
            <a:ext cx="1481328" cy="347472"/>
          </a:xfrm>
          <a:prstGeom prst="roundRect">
            <a:avLst>
              <a:gd name="adj" fmla="val 18421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194560" y="52760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cleaned_violations.csv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776472" y="3401568"/>
            <a:ext cx="109728" cy="0"/>
          </a:xfrm>
          <a:prstGeom prst="line">
            <a:avLst/>
          </a:prstGeom>
          <a:noFill/>
          <a:ln w="19050">
            <a:solidFill>
              <a:srgbClr val="44557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840480" y="1143000"/>
            <a:ext cx="1664208" cy="4663440"/>
          </a:xfrm>
          <a:prstGeom prst="roundRect">
            <a:avLst>
              <a:gd name="adj" fmla="val 6593"/>
            </a:avLst>
          </a:prstGeom>
          <a:solidFill>
            <a:srgbClr val="2A101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931920" y="123444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931920" y="12344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1252728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931920" y="16459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Hotspot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(DBSCAN)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023360" y="2514600"/>
            <a:ext cx="1298448" cy="0"/>
          </a:xfrm>
          <a:prstGeom prst="line">
            <a:avLst/>
          </a:prstGeom>
          <a:noFill/>
          <a:ln w="9525">
            <a:solidFill>
              <a:srgbClr val="E63946">
                <a:alpha val="6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023360" y="2734056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160520" y="265176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Haversine metric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023360" y="3136392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160520" y="30540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eps = 500 m radius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023360" y="353872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160520" y="345643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min_samples = 50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4023360" y="3941064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160520" y="3858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62 clusters found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3931920" y="5276088"/>
            <a:ext cx="1481328" cy="347472"/>
          </a:xfrm>
          <a:prstGeom prst="roundRect">
            <a:avLst>
              <a:gd name="adj" fmla="val 18421"/>
            </a:avLst>
          </a:prstGeom>
          <a:solidFill>
            <a:srgbClr val="E63946">
              <a:alpha val="25000"/>
            </a:srgbClr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931920" y="52760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junction_summary.csv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5513832" y="3401568"/>
            <a:ext cx="109728" cy="0"/>
          </a:xfrm>
          <a:prstGeom prst="line">
            <a:avLst/>
          </a:prstGeom>
          <a:noFill/>
          <a:ln w="19050">
            <a:solidFill>
              <a:srgbClr val="445577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5577840" y="1143000"/>
            <a:ext cx="1664208" cy="4663440"/>
          </a:xfrm>
          <a:prstGeom prst="roundRect">
            <a:avLst>
              <a:gd name="adj" fmla="val 6593"/>
            </a:avLst>
          </a:prstGeom>
          <a:solidFill>
            <a:srgbClr val="251A08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5669280" y="123444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669280" y="12344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1252728"/>
            <a:ext cx="347472" cy="347472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669280" y="16459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Congestion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Scoring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5760720" y="2514600"/>
            <a:ext cx="1298448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5760720" y="2734056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5897880" y="265176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Lane-blocking formula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5760720" y="3136392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5897880" y="30540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Capacity reduction %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5760720" y="3538728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5897880" y="345643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Weighted 0–100 score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5760720" y="394106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5897880" y="3858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7 signal factors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5669280" y="5276088"/>
            <a:ext cx="1481328" cy="347472"/>
          </a:xfrm>
          <a:prstGeom prst="roundRect">
            <a:avLst>
              <a:gd name="adj" fmla="val 18421"/>
            </a:avLst>
          </a:prstGeom>
          <a:solidFill>
            <a:srgbClr val="F4A261">
              <a:alpha val="25000"/>
            </a:srgbClr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5669280" y="52760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station_scores.csv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7251192" y="3401568"/>
            <a:ext cx="109728" cy="0"/>
          </a:xfrm>
          <a:prstGeom prst="line">
            <a:avLst/>
          </a:prstGeom>
          <a:noFill/>
          <a:ln w="19050">
            <a:solidFill>
              <a:srgbClr val="445577"/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7315200" y="1143000"/>
            <a:ext cx="1664208" cy="4663440"/>
          </a:xfrm>
          <a:prstGeom prst="roundRect">
            <a:avLst>
              <a:gd name="adj" fmla="val 6593"/>
            </a:avLst>
          </a:prstGeom>
          <a:solidFill>
            <a:srgbClr val="1A103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6" name="Shape 57"/>
          <p:cNvSpPr/>
          <p:nvPr/>
        </p:nvSpPr>
        <p:spPr>
          <a:xfrm>
            <a:off x="7406640" y="123444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7406640" y="12344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1252728"/>
            <a:ext cx="347472" cy="347472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7406640" y="16459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Zone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Intelligence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Tagging</a:t>
            </a:r>
            <a:endParaRPr lang="en-US" sz="1100" dirty="0"/>
          </a:p>
        </p:txBody>
      </p:sp>
      <p:sp>
        <p:nvSpPr>
          <p:cNvPr id="70" name="Shape 60"/>
          <p:cNvSpPr/>
          <p:nvPr/>
        </p:nvSpPr>
        <p:spPr>
          <a:xfrm>
            <a:off x="7498080" y="2514600"/>
            <a:ext cx="1298448" cy="0"/>
          </a:xfrm>
          <a:prstGeom prst="line">
            <a:avLst/>
          </a:prstGeom>
          <a:noFill/>
          <a:ln w="9525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7498080" y="27340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62"/>
          <p:cNvSpPr/>
          <p:nvPr/>
        </p:nvSpPr>
        <p:spPr>
          <a:xfrm>
            <a:off x="7635240" y="265176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Metro / Commercial</a:t>
            </a:r>
            <a:endParaRPr lang="en-US" sz="900" dirty="0"/>
          </a:p>
        </p:txBody>
      </p:sp>
      <p:sp>
        <p:nvSpPr>
          <p:cNvPr id="73" name="Shape 63"/>
          <p:cNvSpPr/>
          <p:nvPr/>
        </p:nvSpPr>
        <p:spPr>
          <a:xfrm>
            <a:off x="7498080" y="31363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64"/>
          <p:cNvSpPr/>
          <p:nvPr/>
        </p:nvSpPr>
        <p:spPr>
          <a:xfrm>
            <a:off x="7635240" y="30540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Event / General</a:t>
            </a:r>
            <a:endParaRPr lang="en-US" sz="900" dirty="0"/>
          </a:p>
        </p:txBody>
      </p:sp>
      <p:sp>
        <p:nvSpPr>
          <p:cNvPr id="75" name="Shape 65"/>
          <p:cNvSpPr/>
          <p:nvPr/>
        </p:nvSpPr>
        <p:spPr>
          <a:xfrm>
            <a:off x="7498080" y="35387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7635240" y="345643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Keyword + junction match</a:t>
            </a:r>
            <a:endParaRPr lang="en-US" sz="900" dirty="0"/>
          </a:p>
        </p:txBody>
      </p:sp>
      <p:sp>
        <p:nvSpPr>
          <p:cNvPr id="77" name="Shape 67"/>
          <p:cNvSpPr/>
          <p:nvPr/>
        </p:nvSpPr>
        <p:spPr>
          <a:xfrm>
            <a:off x="7498080" y="39410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68"/>
          <p:cNvSpPr/>
          <p:nvPr/>
        </p:nvSpPr>
        <p:spPr>
          <a:xfrm>
            <a:off x="7635240" y="3858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Zone-level analytics</a:t>
            </a:r>
            <a:endParaRPr lang="en-US" sz="900" dirty="0"/>
          </a:p>
        </p:txBody>
      </p:sp>
      <p:sp>
        <p:nvSpPr>
          <p:cNvPr id="79" name="Shape 69"/>
          <p:cNvSpPr/>
          <p:nvPr/>
        </p:nvSpPr>
        <p:spPr>
          <a:xfrm>
            <a:off x="7406640" y="5276088"/>
            <a:ext cx="1481328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7406640" y="52760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zone_tagged.csv</a:t>
            </a:r>
            <a:endParaRPr lang="en-US" sz="800" dirty="0"/>
          </a:p>
        </p:txBody>
      </p:sp>
      <p:sp>
        <p:nvSpPr>
          <p:cNvPr id="81" name="Shape 71"/>
          <p:cNvSpPr/>
          <p:nvPr/>
        </p:nvSpPr>
        <p:spPr>
          <a:xfrm>
            <a:off x="8988552" y="3401568"/>
            <a:ext cx="109728" cy="0"/>
          </a:xfrm>
          <a:prstGeom prst="line">
            <a:avLst/>
          </a:prstGeom>
          <a:noFill/>
          <a:ln w="19050">
            <a:solidFill>
              <a:srgbClr val="445577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9052560" y="1143000"/>
            <a:ext cx="1664208" cy="4663440"/>
          </a:xfrm>
          <a:prstGeom prst="roundRect">
            <a:avLst>
              <a:gd name="adj" fmla="val 6593"/>
            </a:avLst>
          </a:prstGeom>
          <a:solidFill>
            <a:srgbClr val="081825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3" name="Shape 73"/>
          <p:cNvSpPr/>
          <p:nvPr/>
        </p:nvSpPr>
        <p:spPr>
          <a:xfrm>
            <a:off x="9144000" y="1234440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9144000" y="12344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4352" y="1252728"/>
            <a:ext cx="347472" cy="347472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9144000" y="16459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Enforcement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 &amp;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87" name="Shape 76"/>
          <p:cNvSpPr/>
          <p:nvPr/>
        </p:nvSpPr>
        <p:spPr>
          <a:xfrm>
            <a:off x="9235440" y="2514600"/>
            <a:ext cx="1298448" cy="0"/>
          </a:xfrm>
          <a:prstGeom prst="line">
            <a:avLst/>
          </a:prstGeom>
          <a:noFill/>
          <a:ln w="9525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9235440" y="27340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9" name="Text 78"/>
          <p:cNvSpPr/>
          <p:nvPr/>
        </p:nvSpPr>
        <p:spPr>
          <a:xfrm>
            <a:off x="9372600" y="265176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Priority tiers CRITICAL→LOW</a:t>
            </a:r>
            <a:endParaRPr lang="en-US" sz="900" dirty="0"/>
          </a:p>
        </p:txBody>
      </p:sp>
      <p:sp>
        <p:nvSpPr>
          <p:cNvPr id="90" name="Shape 79"/>
          <p:cNvSpPr/>
          <p:nvPr/>
        </p:nvSpPr>
        <p:spPr>
          <a:xfrm>
            <a:off x="9235440" y="313639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1" name="Text 80"/>
          <p:cNvSpPr/>
          <p:nvPr/>
        </p:nvSpPr>
        <p:spPr>
          <a:xfrm>
            <a:off x="9372600" y="30540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Patrol unit recommendation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>
            <a:off x="9235440" y="353872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3" name="Text 82"/>
          <p:cNvSpPr/>
          <p:nvPr/>
        </p:nvSpPr>
        <p:spPr>
          <a:xfrm>
            <a:off x="9372600" y="345643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Deployment time window</a:t>
            </a:r>
            <a:endParaRPr lang="en-US" sz="900" dirty="0"/>
          </a:p>
        </p:txBody>
      </p:sp>
      <p:sp>
        <p:nvSpPr>
          <p:cNvPr id="94" name="Shape 83"/>
          <p:cNvSpPr/>
          <p:nvPr/>
        </p:nvSpPr>
        <p:spPr>
          <a:xfrm>
            <a:off x="9235440" y="394106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5" name="Text 84"/>
          <p:cNvSpPr/>
          <p:nvPr/>
        </p:nvSpPr>
        <p:spPr>
          <a:xfrm>
            <a:off x="9372600" y="3858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ABBCC"/>
                </a:solidFill>
              </a:rPr>
              <a:t>6-view Streamlit app</a:t>
            </a:r>
            <a:endParaRPr lang="en-US" sz="900" dirty="0"/>
          </a:p>
        </p:txBody>
      </p:sp>
      <p:sp>
        <p:nvSpPr>
          <p:cNvPr id="96" name="Shape 85"/>
          <p:cNvSpPr/>
          <p:nvPr/>
        </p:nvSpPr>
        <p:spPr>
          <a:xfrm>
            <a:off x="9144000" y="5276088"/>
            <a:ext cx="1481328" cy="347472"/>
          </a:xfrm>
          <a:prstGeom prst="roundRect">
            <a:avLst>
              <a:gd name="adj" fmla="val 18421"/>
            </a:avLst>
          </a:prstGeom>
          <a:solidFill>
            <a:srgbClr val="0EA5E9">
              <a:alpha val="25000"/>
            </a:srgbClr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7" name="Text 86"/>
          <p:cNvSpPr/>
          <p:nvPr/>
        </p:nvSpPr>
        <p:spPr>
          <a:xfrm>
            <a:off x="9144000" y="52760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→ Live Dashboard</a:t>
            </a:r>
            <a:endParaRPr lang="en-US" sz="800" dirty="0"/>
          </a:p>
        </p:txBody>
      </p:sp>
      <p:sp>
        <p:nvSpPr>
          <p:cNvPr id="98" name="Shape 87"/>
          <p:cNvSpPr/>
          <p:nvPr/>
        </p:nvSpPr>
        <p:spPr>
          <a:xfrm>
            <a:off x="10561320" y="1188720"/>
            <a:ext cx="1371600" cy="4206240"/>
          </a:xfrm>
          <a:prstGeom prst="roundRect">
            <a:avLst>
              <a:gd name="adj" fmla="val 8000"/>
            </a:avLst>
          </a:prstGeom>
          <a:solidFill>
            <a:srgbClr val="0A1E2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9" name="Text 88"/>
          <p:cNvSpPr/>
          <p:nvPr/>
        </p:nvSpPr>
        <p:spPr>
          <a:xfrm>
            <a:off x="10561320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0D9488"/>
                </a:solidFill>
              </a:rPr>
              <a:t>OUTPUT</a:t>
            </a:r>
            <a:endParaRPr lang="en-US" sz="800" dirty="0"/>
          </a:p>
        </p:txBody>
      </p:sp>
      <p:pic>
        <p:nvPicPr>
          <p:cNvPr id="10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73384" y="1691640"/>
            <a:ext cx="347472" cy="347472"/>
          </a:xfrm>
          <a:prstGeom prst="rect">
            <a:avLst/>
          </a:prstGeom>
        </p:spPr>
      </p:pic>
      <p:sp>
        <p:nvSpPr>
          <p:cNvPr id="101" name="Text 89"/>
          <p:cNvSpPr/>
          <p:nvPr/>
        </p:nvSpPr>
        <p:spPr>
          <a:xfrm>
            <a:off x="10597896" y="207568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Hotspot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Heatmap</a:t>
            </a:r>
            <a:endParaRPr lang="en-US" sz="850" dirty="0"/>
          </a:p>
        </p:txBody>
      </p:sp>
      <p:pic>
        <p:nvPicPr>
          <p:cNvPr id="10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73384" y="2606040"/>
            <a:ext cx="347472" cy="347472"/>
          </a:xfrm>
          <a:prstGeom prst="rect">
            <a:avLst/>
          </a:prstGeom>
        </p:spPr>
      </p:pic>
      <p:sp>
        <p:nvSpPr>
          <p:cNvPr id="103" name="Text 90"/>
          <p:cNvSpPr/>
          <p:nvPr/>
        </p:nvSpPr>
        <p:spPr>
          <a:xfrm>
            <a:off x="10597896" y="299008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Congestion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Scores</a:t>
            </a:r>
            <a:endParaRPr lang="en-US" sz="850" dirty="0"/>
          </a:p>
        </p:txBody>
      </p:sp>
      <p:pic>
        <p:nvPicPr>
          <p:cNvPr id="10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3384" y="3520440"/>
            <a:ext cx="347472" cy="347472"/>
          </a:xfrm>
          <a:prstGeom prst="rect">
            <a:avLst/>
          </a:prstGeom>
        </p:spPr>
      </p:pic>
      <p:sp>
        <p:nvSpPr>
          <p:cNvPr id="105" name="Text 91"/>
          <p:cNvSpPr/>
          <p:nvPr/>
        </p:nvSpPr>
        <p:spPr>
          <a:xfrm>
            <a:off x="10597896" y="390448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Zone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Insights</a:t>
            </a:r>
            <a:endParaRPr lang="en-US" sz="850" dirty="0"/>
          </a:p>
        </p:txBody>
      </p:sp>
      <p:pic>
        <p:nvPicPr>
          <p:cNvPr id="10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73384" y="4434840"/>
            <a:ext cx="347472" cy="347472"/>
          </a:xfrm>
          <a:prstGeom prst="rect">
            <a:avLst/>
          </a:prstGeom>
        </p:spPr>
      </p:pic>
      <p:sp>
        <p:nvSpPr>
          <p:cNvPr id="107" name="Text 92"/>
          <p:cNvSpPr/>
          <p:nvPr/>
        </p:nvSpPr>
        <p:spPr>
          <a:xfrm>
            <a:off x="10597896" y="481888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Dashboard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DDCC"/>
                </a:solidFill>
              </a:rPr>
              <a:t>(Streamlit)</a:t>
            </a:r>
            <a:endParaRPr lang="en-US" sz="850" dirty="0"/>
          </a:p>
        </p:txBody>
      </p:sp>
      <p:sp>
        <p:nvSpPr>
          <p:cNvPr id="108" name="Text 93"/>
          <p:cNvSpPr/>
          <p:nvPr/>
        </p:nvSpPr>
        <p:spPr>
          <a:xfrm>
            <a:off x="274320" y="6126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</a:rPr>
              <a:t>TECH STACK:</a:t>
            </a:r>
            <a:endParaRPr lang="en-US" sz="800" dirty="0"/>
          </a:p>
        </p:txBody>
      </p:sp>
      <p:sp>
        <p:nvSpPr>
          <p:cNvPr id="109" name="Shape 94"/>
          <p:cNvSpPr/>
          <p:nvPr/>
        </p:nvSpPr>
        <p:spPr>
          <a:xfrm>
            <a:off x="1691640" y="612648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1E2A4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110" name="Text 95"/>
          <p:cNvSpPr/>
          <p:nvPr/>
        </p:nvSpPr>
        <p:spPr>
          <a:xfrm>
            <a:off x="1691640" y="6126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Python 3.10</a:t>
            </a:r>
            <a:endParaRPr lang="en-US" sz="850" dirty="0"/>
          </a:p>
        </p:txBody>
      </p:sp>
      <p:sp>
        <p:nvSpPr>
          <p:cNvPr id="111" name="Shape 96"/>
          <p:cNvSpPr/>
          <p:nvPr/>
        </p:nvSpPr>
        <p:spPr>
          <a:xfrm>
            <a:off x="3429000" y="612648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1E2A4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112" name="Text 97"/>
          <p:cNvSpPr/>
          <p:nvPr/>
        </p:nvSpPr>
        <p:spPr>
          <a:xfrm>
            <a:off x="3429000" y="6126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Scikit-learn DBSCAN</a:t>
            </a:r>
            <a:endParaRPr lang="en-US" sz="850" dirty="0"/>
          </a:p>
        </p:txBody>
      </p:sp>
      <p:sp>
        <p:nvSpPr>
          <p:cNvPr id="113" name="Shape 98"/>
          <p:cNvSpPr/>
          <p:nvPr/>
        </p:nvSpPr>
        <p:spPr>
          <a:xfrm>
            <a:off x="5166360" y="612648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1E2A4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114" name="Text 99"/>
          <p:cNvSpPr/>
          <p:nvPr/>
        </p:nvSpPr>
        <p:spPr>
          <a:xfrm>
            <a:off x="5166360" y="6126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Folium + Leaflet.js</a:t>
            </a:r>
            <a:endParaRPr lang="en-US" sz="850" dirty="0"/>
          </a:p>
        </p:txBody>
      </p:sp>
      <p:sp>
        <p:nvSpPr>
          <p:cNvPr id="115" name="Shape 100"/>
          <p:cNvSpPr/>
          <p:nvPr/>
        </p:nvSpPr>
        <p:spPr>
          <a:xfrm>
            <a:off x="6903720" y="612648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1E2A4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116" name="Text 101"/>
          <p:cNvSpPr/>
          <p:nvPr/>
        </p:nvSpPr>
        <p:spPr>
          <a:xfrm>
            <a:off x="6903720" y="6126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Streamlit</a:t>
            </a:r>
            <a:endParaRPr lang="en-US" sz="850" dirty="0"/>
          </a:p>
        </p:txBody>
      </p:sp>
      <p:sp>
        <p:nvSpPr>
          <p:cNvPr id="117" name="Shape 102"/>
          <p:cNvSpPr/>
          <p:nvPr/>
        </p:nvSpPr>
        <p:spPr>
          <a:xfrm>
            <a:off x="8641080" y="612648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1E2A4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118" name="Text 103"/>
          <p:cNvSpPr/>
          <p:nvPr/>
        </p:nvSpPr>
        <p:spPr>
          <a:xfrm>
            <a:off x="8641080" y="6126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Plotly</a:t>
            </a:r>
            <a:endParaRPr lang="en-US" sz="850" dirty="0"/>
          </a:p>
        </p:txBody>
      </p:sp>
      <p:sp>
        <p:nvSpPr>
          <p:cNvPr id="119" name="Shape 104"/>
          <p:cNvSpPr/>
          <p:nvPr/>
        </p:nvSpPr>
        <p:spPr>
          <a:xfrm>
            <a:off x="10378440" y="612648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1E2A4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120" name="Text 105"/>
          <p:cNvSpPr/>
          <p:nvPr/>
        </p:nvSpPr>
        <p:spPr>
          <a:xfrm>
            <a:off x="10378440" y="6126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Pandas / NumPy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DATA &amp; METHODOLOGY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From Raw Violation Logs to Model-Ready Features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0FDFC"/>
          </a:solidFill>
          <a:ln w="1524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0759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075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307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</a:rPr>
              <a:t>Source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94360" y="170078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Official BTP parking-violation dataset via HackerEarth — 298,450 rows, Nov 2023–Apr 2024.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11480" y="2816352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95351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535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53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</a:rPr>
              <a:t>Cleaning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94360" y="334670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Parsed multi-violation JSON arrays; standardized all timestamps to IST; filled null junctions.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0" y="1170432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AF5FF"/>
          </a:solidFill>
          <a:ln w="1524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09160" y="130759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09160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075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1307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</a:rPr>
              <a:t>Feature Engineering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54880" y="170078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Vehicle-severity weighting (bus = 5 … two-wheeler = 1) reflects real road-space impact per violation.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2816352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295351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091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95351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2953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</a:rPr>
              <a:t>Zone Tagging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754880" y="334670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Keyword matching on location &amp; junction names classifies every record as Metro / Commercial / Event / General.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732520" y="1170432"/>
            <a:ext cx="3063240" cy="3794760"/>
          </a:xfrm>
          <a:prstGeom prst="roundRect">
            <a:avLst>
              <a:gd name="adj" fmla="val 35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887968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</a:rPr>
              <a:t>CORE FIELDS USED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8833104" y="1700784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1E25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887968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latitude / longitude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0222992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Geolocation of violation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8833104" y="2139696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2127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887968" y="2157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violation_type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0222992" y="2157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JSON list of violation types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8833104" y="2578608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1E25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88796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vehicle_type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0222992" y="2596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Vehicle category (bus → bike)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8833104" y="3017520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2127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887968" y="30358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police_station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10222992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Jurisdiction unit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8833104" y="3456432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1E25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887968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junction_name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10222992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Named junction, if applicable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8833104" y="3895344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2127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887968" y="3913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created_datetime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10222992" y="39136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Timestamp (UTC → IST)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8833104" y="4334256"/>
            <a:ext cx="2816352" cy="365760"/>
          </a:xfrm>
          <a:prstGeom prst="roundRect">
            <a:avLst>
              <a:gd name="adj" fmla="val 12500"/>
            </a:avLst>
          </a:prstGeom>
          <a:solidFill>
            <a:srgbClr val="1E2550"/>
          </a:solidFill>
          <a:ln w="6350">
            <a:solidFill>
              <a:srgbClr val="2D3D6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887968" y="43525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validation_status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10222992" y="4352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Resolved / unresolved flag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STAGE 1 · HOTSPOT DETECTION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62 Illegal-Parking Hotspots, Found Geographically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26187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</a:rPr>
              <a:t>62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Hotspot Clusters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0FDFC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54680" y="126187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</a:rPr>
              <a:t>296,646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154680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Points Clustered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1887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126187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</a:rPr>
              <a:t>99.4%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897880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Geo Coverage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2578608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Why DBSCAN?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Finds clusters of arbitrary shape and size without requiring the number of clusters upfront — perfect for organic parking hotspots.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2578608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9184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Haversine metric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918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Geographic coordinates are angles on a sphere. Haversine calculates true great-circle distances so 500 m means 500 m everywhere in Bengaluru.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97880" y="2578608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3504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</a:rPr>
              <a:t>Parameter choices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350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eps = 0.5 km radius, min_samples = 50 violations — filters noise, keeps only statistically significant hotspots.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32520" y="1170432"/>
            <a:ext cx="3063240" cy="4572000"/>
          </a:xfrm>
          <a:prstGeom prst="roundRect">
            <a:avLst>
              <a:gd name="adj" fmla="val 35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887968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A261"/>
                </a:solidFill>
              </a:rPr>
              <a:t>TOP HOTSPOT JUNCTIONS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851392" y="1700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Upparpet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259568" y="1746504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59568" y="1746504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814048" y="17007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100%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851392" y="2322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KG Road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0259568" y="2368296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59568" y="2368296"/>
            <a:ext cx="1146658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814048" y="23225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76%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851392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Shivajinagar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0259568" y="2990088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59568" y="2990088"/>
            <a:ext cx="1025957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814048" y="2944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68%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851392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Ulsoor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259568" y="3611880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59568" y="3611880"/>
            <a:ext cx="875081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814048" y="35661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58%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851392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Jayanagar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0259568" y="4233672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259568" y="4233672"/>
            <a:ext cx="784555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814048" y="41879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52%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851392" y="4809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Rajajinagar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0259568" y="4855464"/>
            <a:ext cx="150876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259568" y="4855464"/>
            <a:ext cx="663854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814048" y="4809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44%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11480" y="4206240"/>
            <a:ext cx="8092440" cy="685800"/>
          </a:xfrm>
          <a:prstGeom prst="roundRect">
            <a:avLst>
              <a:gd name="adj" fmla="val 1066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4233672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Directly answers the brief: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"Detect illegal parking hotspots" — 99.4% of all geotagged violations fall inside one of the 62 clusters. No manual mapping required.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STAGE 2 · CONGESTION IMPACT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Turning Violation Counts Into One Actionable Score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61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B1F3B"/>
                </a:solidFill>
              </a:rPr>
              <a:t>CONGESTION SCORE WEIGHTS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27632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2763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28%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69848" y="16550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violation volume per station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2194560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1945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28%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69848" y="22219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Junction-adjacent violations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76148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76148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15%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69848" y="27889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Average vehicle severity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834640" y="1627632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34640" y="162763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401568" y="16550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Repeat multi-violation incidents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834640" y="2194560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34640" y="21945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401568" y="22219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Enforcement gap (unresolved)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834640" y="276148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34640" y="276148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401568" y="27889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Metro + Commercial zone proximity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65760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" y="3767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4A261"/>
                </a:solidFill>
              </a:rPr>
              <a:t>ROAD CAPACITY REDUCTION FORMULA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8640" y="4059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capacity_reduction % = (Σ lane_impact) / (total_violations × 4) × 100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442569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Lane impact per vehicle: Bus/Truck = 2.0  ·  LGV/HGV = 1.5  ·  Van = 1.2  ·  Car = 1.0  ·  Two-wheeler = 0.5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32120" y="1170432"/>
            <a:ext cx="6263640" cy="3813048"/>
          </a:xfrm>
          <a:prstGeom prst="roundRect">
            <a:avLst>
              <a:gd name="adj" fmla="val 2878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687568" y="131673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A261"/>
                </a:solidFill>
              </a:rPr>
              <a:t>TOP STATIONS BY CONGESTION SCORE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687568" y="1664208"/>
            <a:ext cx="5897880" cy="713232"/>
          </a:xfrm>
          <a:prstGeom prst="roundRect">
            <a:avLst>
              <a:gd name="adj" fmla="val 10256"/>
            </a:avLst>
          </a:prstGeom>
          <a:solidFill>
            <a:srgbClr val="2A1015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UPPARPET — CRITICAL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8064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AA"/>
                </a:solidFill>
              </a:rPr>
              <a:t>Score: 77.7 / 100  |  34,284 of 34,468 violations at junctions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742432" y="2505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Upparpet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635240" y="2578608"/>
            <a:ext cx="347472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35240" y="2578608"/>
            <a:ext cx="2699857" cy="18288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173968" y="25054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77.7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742432" y="2916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KG Road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635240" y="2990088"/>
            <a:ext cx="347472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35240" y="2990088"/>
            <a:ext cx="2126529" cy="182880"/>
          </a:xfrm>
          <a:prstGeom prst="roundRect">
            <a:avLst>
              <a:gd name="adj" fmla="val 20000"/>
            </a:avLst>
          </a:prstGeom>
          <a:solidFill>
            <a:srgbClr val="FF8C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173968" y="291693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42"/>
                </a:solidFill>
              </a:rPr>
              <a:t>61.2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742432" y="3328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Shivajinagar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635240" y="3401568"/>
            <a:ext cx="347472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635240" y="3401568"/>
            <a:ext cx="1904147" cy="18288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173968" y="33284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54.8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742432" y="37398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Ulsoor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7635240" y="3813048"/>
            <a:ext cx="347472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35240" y="3813048"/>
            <a:ext cx="1678290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1173968" y="37398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48.3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742432" y="41513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Jayanagar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635240" y="4224528"/>
            <a:ext cx="347472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635240" y="4224528"/>
            <a:ext cx="1448958" cy="18288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1173968" y="41513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41.7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742432" y="4562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Rajajinagar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635240" y="4636008"/>
            <a:ext cx="3474720" cy="182880"/>
          </a:xfrm>
          <a:prstGeom prst="roundRect">
            <a:avLst>
              <a:gd name="adj" fmla="val 20000"/>
            </a:avLst>
          </a:prstGeom>
          <a:solidFill>
            <a:srgbClr val="1E2550"/>
          </a:solidFill>
          <a:ln w="12700">
            <a:solidFill>
              <a:srgbClr val="1E255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635240" y="4636008"/>
            <a:ext cx="1233526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1173968" y="45628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35.5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STAGE 3 · ZONE INTELLIGENCE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Pinpointing Violations Near Metros, Markets &amp; Events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26187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</a:rPr>
              <a:t>89,846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11480" y="18288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Commercial Zone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2084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30.1% of total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27832" y="1170432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0FDFC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27832" y="126187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7,208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227832" y="18288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Metro Zone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27832" y="2084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2.4% of total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44184" y="1170432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AF5FF"/>
          </a:solidFill>
          <a:ln w="1905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44184" y="126187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7,780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044184" y="18288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Event Zone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44184" y="2084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2.6% of total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860536" y="1170432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60536" y="126187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</a:rPr>
              <a:t>193,616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860536" y="18288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General Zone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860536" y="2084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64.9% of total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26974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16352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5840" y="2788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89,846 commercial-zone violations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76072" y="32186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Confirms the brief's premise — commercial hubs are the dominant spillover-parking choke points in Bengaluru.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343400" y="26974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816352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937760" y="2788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7,208 metro-zone violations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07992" y="32186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Captures violations near Namma Metro stations — a growing hotspot as the network expands.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275320" y="26974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816352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69680" y="2788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Filterable by zone type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439912" y="32186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Lets command prioritize enforcement by zone category, not just raw geography — actionable for event management.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732520" y="4370832"/>
            <a:ext cx="3063240" cy="1325880"/>
          </a:xfrm>
          <a:prstGeom prst="roundRect">
            <a:avLst>
              <a:gd name="adj" fmla="val 689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8778240" y="4480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</a:rPr>
              <a:t>ZONE BREAKDOWN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8851392" y="482803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015984" y="4773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Commercial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10314432" y="48280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479024" y="4773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Metro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8851392" y="51755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015984" y="5120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Event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10314432" y="517550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0479024" y="5120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General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STAGE 4 · ENFORCEMENT ENGINE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From Insight to Instruction: What, Where &amp; When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289304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261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3946"/>
                </a:solidFill>
              </a:rPr>
              <a:t>One engine, five outputs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6072" y="16916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For any station: priority tier, recommended patrol units, optimal deployment window, peak violation day, and unresolved-case count.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154680" y="1170432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2893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1261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A261"/>
                </a:solidFill>
              </a:rPr>
              <a:t>Score-based priority tiers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19272" y="16916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Critical (≥60) · High (≥40) · Medium (≥20) · Low (&lt;20) — maps directly to patrol units assigned.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897880" y="1170432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28930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2240" y="12618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A5E9"/>
                </a:solidFill>
              </a:rPr>
              <a:t>Real daytime peak detection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062472" y="16916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Deployment hours from genuine 6 AM–10 PM patterns, filtering rare night-time entries from commercial supply runs.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11480" y="2907792"/>
            <a:ext cx="8092440" cy="310896"/>
          </a:xfrm>
          <a:prstGeom prst="roundRect">
            <a:avLst>
              <a:gd name="adj" fmla="val 1764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29443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9488"/>
                </a:solidFill>
              </a:rPr>
              <a:t>LIVE RECOMMENDATION OUTPUT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11480" y="3291840"/>
            <a:ext cx="8092440" cy="2852928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11480" y="3291840"/>
            <a:ext cx="8092440" cy="475488"/>
          </a:xfrm>
          <a:prstGeom prst="roundRect">
            <a:avLst>
              <a:gd name="adj" fmla="val 2307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360" y="33467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Upparpet Police Station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212080" y="3364992"/>
            <a:ext cx="1188720" cy="301752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212080" y="336499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94360" y="3886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Congestion Score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594360" y="41239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77.7 / 100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3081528" y="3886200"/>
            <a:ext cx="0" cy="8046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64408" y="3886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Recommended Patrol Units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3264408" y="41239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5 Units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5751576" y="3886200"/>
            <a:ext cx="0" cy="8046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934456" y="3886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Deploy At (IST)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934456" y="41239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8:00 – 10:00 AM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594360" y="4983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Peak Day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594360" y="52212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Sunday</a:t>
            </a:r>
            <a:endParaRPr lang="en-US" sz="2000" dirty="0"/>
          </a:p>
        </p:txBody>
      </p:sp>
      <p:sp>
        <p:nvSpPr>
          <p:cNvPr id="35" name="Shape 29"/>
          <p:cNvSpPr/>
          <p:nvPr/>
        </p:nvSpPr>
        <p:spPr>
          <a:xfrm>
            <a:off x="3081528" y="4983480"/>
            <a:ext cx="0" cy="8046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264408" y="4983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Top Violation Type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3264408" y="52212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Wrong Parking</a:t>
            </a:r>
            <a:endParaRPr lang="en-US" sz="2000" dirty="0"/>
          </a:p>
        </p:txBody>
      </p:sp>
      <p:sp>
        <p:nvSpPr>
          <p:cNvPr id="38" name="Shape 32"/>
          <p:cNvSpPr/>
          <p:nvPr/>
        </p:nvSpPr>
        <p:spPr>
          <a:xfrm>
            <a:off x="5751576" y="4983480"/>
            <a:ext cx="0" cy="8046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934456" y="4983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Unresolved Cases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5934456" y="52212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19,072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8732520" y="1170432"/>
            <a:ext cx="3063240" cy="4974336"/>
          </a:xfrm>
          <a:prstGeom prst="roundRect">
            <a:avLst>
              <a:gd name="adj" fmla="val 35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8887968" y="13167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</a:rPr>
              <a:t>PRIORITY TIERS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8851392" y="1682496"/>
            <a:ext cx="2788920" cy="932688"/>
          </a:xfrm>
          <a:prstGeom prst="roundRect">
            <a:avLst>
              <a:gd name="adj" fmla="val 7843"/>
            </a:avLst>
          </a:prstGeom>
          <a:solidFill>
            <a:srgbClr val="1E2550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851392" y="1682496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851392" y="16824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CRITICAL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10012680" y="17190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Score ≥ 60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891540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5 units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8851392" y="2761488"/>
            <a:ext cx="2788920" cy="932688"/>
          </a:xfrm>
          <a:prstGeom prst="roundRect">
            <a:avLst>
              <a:gd name="adj" fmla="val 7843"/>
            </a:avLst>
          </a:prstGeom>
          <a:solidFill>
            <a:srgbClr val="1E2550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851392" y="276148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8851392" y="2761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10012680" y="27980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Score ≥ 40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891540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</a:rPr>
              <a:t>3 units</a:t>
            </a:r>
            <a:endParaRPr lang="en-US" sz="1400" dirty="0"/>
          </a:p>
        </p:txBody>
      </p:sp>
      <p:sp>
        <p:nvSpPr>
          <p:cNvPr id="53" name="Shape 47"/>
          <p:cNvSpPr/>
          <p:nvPr/>
        </p:nvSpPr>
        <p:spPr>
          <a:xfrm>
            <a:off x="8851392" y="3840480"/>
            <a:ext cx="2788920" cy="932688"/>
          </a:xfrm>
          <a:prstGeom prst="roundRect">
            <a:avLst>
              <a:gd name="adj" fmla="val 7843"/>
            </a:avLst>
          </a:prstGeom>
          <a:solidFill>
            <a:srgbClr val="1E255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851392" y="38404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8851392" y="3840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MEDIUM</a:t>
            </a:r>
            <a:endParaRPr lang="en-US" sz="950" dirty="0"/>
          </a:p>
        </p:txBody>
      </p:sp>
      <p:sp>
        <p:nvSpPr>
          <p:cNvPr id="56" name="Text 50"/>
          <p:cNvSpPr/>
          <p:nvPr/>
        </p:nvSpPr>
        <p:spPr>
          <a:xfrm>
            <a:off x="10012680" y="38770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Score ≥ 20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8915400" y="4279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2 units</a:t>
            </a:r>
            <a:endParaRPr lang="en-US" sz="1400" dirty="0"/>
          </a:p>
        </p:txBody>
      </p:sp>
      <p:sp>
        <p:nvSpPr>
          <p:cNvPr id="58" name="Shape 52"/>
          <p:cNvSpPr/>
          <p:nvPr/>
        </p:nvSpPr>
        <p:spPr>
          <a:xfrm>
            <a:off x="8851392" y="4919472"/>
            <a:ext cx="2788920" cy="932688"/>
          </a:xfrm>
          <a:prstGeom prst="roundRect">
            <a:avLst>
              <a:gd name="adj" fmla="val 7843"/>
            </a:avLst>
          </a:prstGeom>
          <a:solidFill>
            <a:srgbClr val="1E2550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8851392" y="4919472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8851392" y="4919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LOW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10012680" y="49560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Score &lt; 20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8915400" y="5358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1 unit</a:t>
            </a:r>
            <a:endParaRPr lang="en-US" sz="1400" dirty="0"/>
          </a:p>
        </p:txBody>
      </p:sp>
      <p:sp>
        <p:nvSpPr>
          <p:cNvPr id="63" name="Text 57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64" name="Text 58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475488" cy="475488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4480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329184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STAGE 5 · COMMAND DASHBOARD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05840" y="512064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ParkSense AI — A Six-View Command Dashboard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361188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70432"/>
            <a:ext cx="3611880" cy="731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01  Overview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82880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City-wide KPIs, top-risk stations, enforcement-gap table.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43400" y="1170432"/>
            <a:ext cx="361188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43400" y="1170432"/>
            <a:ext cx="3611880" cy="73152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71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01768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02  Hotspot Heatmap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26280" y="182880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Dual-layer violation-density vs. congestion-impact map.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75320" y="1170432"/>
            <a:ext cx="361188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75320" y="1170432"/>
            <a:ext cx="3611880" cy="731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3716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33688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03  Zone Analysis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458200" y="182880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Metro / Commercial / Event breakdown by junction.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11480" y="3090672"/>
            <a:ext cx="361188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11480" y="3090672"/>
            <a:ext cx="3611880" cy="73152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69848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04  Time Intelligence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94360" y="374904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Hourly, daily and monthly violation patterns.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43400" y="3090672"/>
            <a:ext cx="361188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343400" y="3090672"/>
            <a:ext cx="3611880" cy="7315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29184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01768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05  Enforcement Planner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26280" y="374904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Pick any station, get an instant deployment plan.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275320" y="3090672"/>
            <a:ext cx="361188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75320" y="3090672"/>
            <a:ext cx="3611880" cy="731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29184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33688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06  Trend Analysis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458200" y="374904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7-day rolling violation trend per station.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11480" y="4919472"/>
            <a:ext cx="11384280" cy="621792"/>
          </a:xfrm>
          <a:prstGeom prst="roundRect">
            <a:avLst>
              <a:gd name="adj" fmla="val 1470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594360" y="50017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Built with: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1691640" y="50292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1E255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691640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Streamlit (Python)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3410712" y="50292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1E255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410712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Folium + Leaflet.js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5129784" y="50292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1E255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129784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Plotly Express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6848856" y="50292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1E255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848856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pandas / numpy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8567928" y="50292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1E255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567928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Scikit-learn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10287000" y="50292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1E2550"/>
          </a:solidFill>
          <a:ln w="10160">
            <a:solidFill>
              <a:srgbClr val="334466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10287000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HackerEarth dataset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73936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15184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56432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8928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0176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21424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45168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6416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27664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68912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3936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5184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1424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86416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27664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68912" y="10789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73936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15184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56432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8928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0176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21424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2672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45168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86416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27664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20665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73936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15184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97680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38928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0176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21424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62672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03920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45168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86416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27664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68912" y="30540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2688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73936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15184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56432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97680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38928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21424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62672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03920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45168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86416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27664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868912" y="404164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440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2688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73936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15184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56432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97680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38928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80176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21424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62672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03920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45168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86416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027664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868912" y="5029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440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2688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73936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615184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56432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97680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38928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980176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21424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662672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3920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345168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186416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027664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868912" y="601675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" y="29260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IMPACT &amp; NEXT STEPS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57200" y="51206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Built for Bengaluru. Ready to Scale.</a:t>
            </a:r>
            <a:endParaRPr lang="en-US" sz="2600" dirty="0"/>
          </a:p>
        </p:txBody>
      </p:sp>
      <p:sp>
        <p:nvSpPr>
          <p:cNvPr id="109" name="Shape 107"/>
          <p:cNvSpPr/>
          <p:nvPr/>
        </p:nvSpPr>
        <p:spPr>
          <a:xfrm>
            <a:off x="411480" y="1143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411480" y="12344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</a:rPr>
              <a:t>62</a:t>
            </a:r>
            <a:endParaRPr lang="en-US" sz="3800" dirty="0"/>
          </a:p>
        </p:txBody>
      </p:sp>
      <p:sp>
        <p:nvSpPr>
          <p:cNvPr id="111" name="Text 109"/>
          <p:cNvSpPr/>
          <p:nvPr/>
        </p:nvSpPr>
        <p:spPr>
          <a:xfrm>
            <a:off x="411480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Hotspots Mapped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3355848" y="1143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3355848" y="12344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</a:rPr>
              <a:t>77.7</a:t>
            </a:r>
            <a:endParaRPr lang="en-US" sz="3800" dirty="0"/>
          </a:p>
        </p:txBody>
      </p:sp>
      <p:sp>
        <p:nvSpPr>
          <p:cNvPr id="114" name="Text 112"/>
          <p:cNvSpPr/>
          <p:nvPr/>
        </p:nvSpPr>
        <p:spPr>
          <a:xfrm>
            <a:off x="3355848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Top Congestion Score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300216" y="1143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6300216" y="12344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E7F7"/>
                </a:solidFill>
              </a:rPr>
              <a:t>61.3%</a:t>
            </a:r>
            <a:endParaRPr lang="en-US" sz="3800" dirty="0"/>
          </a:p>
        </p:txBody>
      </p:sp>
      <p:sp>
        <p:nvSpPr>
          <p:cNvPr id="117" name="Text 115"/>
          <p:cNvSpPr/>
          <p:nvPr/>
        </p:nvSpPr>
        <p:spPr>
          <a:xfrm>
            <a:off x="6300216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Enforcement Gap Surfaced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9244584" y="1143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9244584" y="12344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</a:rPr>
              <a:t>6</a:t>
            </a:r>
            <a:endParaRPr lang="en-US" sz="3800" dirty="0"/>
          </a:p>
        </p:txBody>
      </p:sp>
      <p:sp>
        <p:nvSpPr>
          <p:cNvPr id="120" name="Text 118"/>
          <p:cNvSpPr/>
          <p:nvPr/>
        </p:nvSpPr>
        <p:spPr>
          <a:xfrm>
            <a:off x="9244584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Live Dashboard Views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411480" y="2578608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548640" y="270662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8640" y="2706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NEAR-TERM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94360" y="309067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CDDEE"/>
                </a:solidFill>
              </a:rPr>
              <a:t>Integrate live CCTV / camera feeds so hotspot maps refresh continuously, not just from historical logs.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4343400" y="2578608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4480560" y="270662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480560" y="2706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MID-TERM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4526280" y="309067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CDDEE"/>
                </a:solidFill>
              </a:rPr>
              <a:t>Connect the recommendation engine directly to patrol-dispatch systems for one-click deployment.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8275320" y="2578608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8412480" y="270662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412480" y="2706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LONG-TERM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8458200" y="309067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CDDEE"/>
                </a:solidFill>
              </a:rPr>
              <a:t>Extend citywide and into event-driven congestion (Theme 2) for a unified traffic-intelligence platform.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411480" y="4553712"/>
            <a:ext cx="1138428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48640" y="45720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</a:rPr>
              <a:t>"ParkSense AI turns 298,450 overlooked records into a daily enforcement plan."</a:t>
            </a:r>
            <a:endParaRPr lang="en-US" sz="1450" dirty="0"/>
          </a:p>
        </p:txBody>
      </p:sp>
      <p:sp>
        <p:nvSpPr>
          <p:cNvPr id="135" name="Text 133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ParkSense AI in Brief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0924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ParkSense AI is a prototype AI-driven parking-intelligence system built for Flipkart's Gridlock Hackathon 2.0, Theme 1. Bengaluru's on-street and spillover parking near commercial areas, metro stations and event venues chokes carriageways, but today's enforcement is patrol-based, reactive, and has no way to see where violations are actually degrading traffic flow.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2231136"/>
            <a:ext cx="7498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50592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ParkSense AI cleans and enriches the official BTP violation dataset (298,450 records), applies geography-aware DBSCAN clustering to surface 62 illegal-parking hotspots, and scores every police station and junction on a 0–100 Congestion Impact Score blending violation density, vehicle severity, and estimated road-capacity reduction.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419856"/>
            <a:ext cx="7498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639312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 rule-based recommendation engine converts these scores into concrete patrol guidance — priority tier, unit count, and deployment window — surfaced through a six-view interactive dashboard. The result moves Bengaluru's traffic police from guesswork to a data-backed daily enforcement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1115568"/>
            <a:ext cx="3063240" cy="4160520"/>
          </a:xfrm>
          <a:prstGeom prst="roundRect">
            <a:avLst>
              <a:gd name="adj" fmla="val 35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87968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0D9488"/>
                </a:solidFill>
              </a:rPr>
              <a:t>AT A GLANCE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869680" y="1645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Dataset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69680" y="1883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298,450 records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87968" y="2176272"/>
            <a:ext cx="2606040" cy="0"/>
          </a:xfrm>
          <a:prstGeom prst="line">
            <a:avLst/>
          </a:prstGeom>
          <a:noFill/>
          <a:ln w="7620">
            <a:solidFill>
              <a:srgbClr val="2D3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2402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Hotspots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869680" y="2478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62 clusters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87968" y="2770632"/>
            <a:ext cx="2606040" cy="0"/>
          </a:xfrm>
          <a:prstGeom prst="line">
            <a:avLst/>
          </a:prstGeom>
          <a:noFill/>
          <a:ln w="7620">
            <a:solidFill>
              <a:srgbClr val="2D3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834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Top Score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69680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77.7 / 100 (Upparpet)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87968" y="3364992"/>
            <a:ext cx="2606040" cy="0"/>
          </a:xfrm>
          <a:prstGeom prst="line">
            <a:avLst/>
          </a:prstGeom>
          <a:noFill/>
          <a:ln w="7620">
            <a:solidFill>
              <a:srgbClr val="2D3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3429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Enforcement Gap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869680" y="3666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61.3%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87968" y="3959352"/>
            <a:ext cx="2606040" cy="0"/>
          </a:xfrm>
          <a:prstGeom prst="line">
            <a:avLst/>
          </a:prstGeom>
          <a:noFill/>
          <a:ln w="7620">
            <a:solidFill>
              <a:srgbClr val="2D3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4023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Commercial-Zone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69680" y="4261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89,846 violations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87968" y="4553712"/>
            <a:ext cx="2606040" cy="0"/>
          </a:xfrm>
          <a:prstGeom prst="line">
            <a:avLst/>
          </a:prstGeom>
          <a:noFill/>
          <a:ln w="7620">
            <a:solidFill>
              <a:srgbClr val="2D3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6177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Dashboard Views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869680" y="4855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REFERENCES &amp; DATA SOURCES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Sources, Tools &amp; Acknowledgements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07592"/>
            <a:ext cx="164592" cy="1051560"/>
          </a:xfrm>
          <a:prstGeom prst="roundRect">
            <a:avLst>
              <a:gd name="adj" fmla="val 22222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07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</a:rPr>
              <a:t>Primary dataset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Bengaluru Traffic Police — "Jan to May Parking Violation" records, provided via HackerEarth for Flipkart Gridlock Hackathon 2.0, Theme 1.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70632"/>
            <a:ext cx="164592" cy="105156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Clustering method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09067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DBSCAN (scikit-learn) with the haversine metric, for geographically accurate hotspot detection.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096512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233672"/>
            <a:ext cx="164592" cy="105156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33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Geospatial visualization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55371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Folium (built on Leaflet.js) for dual-layer violation and congestion heatmaps.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170432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307592"/>
            <a:ext cx="164592" cy="1051560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307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Analytical charts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20840" y="162763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Plotly, for interactive bar, pie, and trend visualizations inside the dashboard.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633472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2770632"/>
            <a:ext cx="164592" cy="105156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</a:rPr>
              <a:t>Application framework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309067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Streamlit (Python), for the six-view interactive command dashboard.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4096512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233672"/>
            <a:ext cx="164592" cy="1051560"/>
          </a:xfrm>
          <a:prstGeom prst="roundRect">
            <a:avLst>
              <a:gd name="adj" fmla="val 2222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233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</a:rPr>
              <a:t>Hackathon context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455371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Flipkart Gridlock Hackathon 2.0, Round 2 — Prototype Phase, BTP × Flipkart, Bengaluru.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5577840"/>
            <a:ext cx="11384280" cy="566928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623560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3946"/>
                </a:solidFill>
              </a:rPr>
              <a:t>Before submitting: add your team's GitHub repository URL, Kaggle/Colab notebook link, and demo video link here.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</a:rPr>
              <a:t>[SECTION LABEL]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</a:rPr>
              <a:t>[Slide Title Goes Here]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</a:rPr>
              <a:t>CONTENT PLACEHOLDER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Key point one goes here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Key point two goes here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Key point three goes here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Key point four goes here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Key point five goes here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Key point six goes here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89320" y="1115568"/>
            <a:ext cx="5806440" cy="4160520"/>
          </a:xfrm>
          <a:prstGeom prst="roundRect">
            <a:avLst>
              <a:gd name="adj" fmla="val 2637"/>
            </a:avLst>
          </a:prstGeom>
          <a:solidFill>
            <a:srgbClr val="F0F4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261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A5E9"/>
                </a:solidFill>
              </a:rPr>
              <a:t>CHART / IMAGE / DIAGRAM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72200" y="22860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Drop a chart, screenshot, or diagram in this region — keep the same card style, shadow, and margins as the rest of the deck.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ParkSense AI  ·  Flipkart Gridlock Hackathon 2.0  ·  Theme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51615" y="6565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ParkSense AI</dc:title>
  <dc:subject>PptxGenJS Presentation</dc:subject>
  <dc:creator>Gridlock Hackathon 2.0</dc:creator>
  <cp:lastModifiedBy>Gridlock Hackathon 2.0</cp:lastModifiedBy>
  <cp:revision>1</cp:revision>
  <dcterms:created xsi:type="dcterms:W3CDTF">2026-06-19T13:55:37Z</dcterms:created>
  <dcterms:modified xsi:type="dcterms:W3CDTF">2026-06-19T13:55:37Z</dcterms:modified>
</cp:coreProperties>
</file>